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CED1A814-0C11-4C2B-8195-D718080EA599}" type="datetimeFigureOut">
              <a:rPr lang="en-US" smtClean="0"/>
              <a:t>8/4/2025</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222554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D1A814-0C11-4C2B-8195-D718080EA599}"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3166977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CED1A814-0C11-4C2B-8195-D718080EA599}" type="datetimeFigureOut">
              <a:rPr lang="en-US" smtClean="0"/>
              <a:t>8/4/2025</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1779487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D1A814-0C11-4C2B-8195-D718080EA599}"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3642675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D1A814-0C11-4C2B-8195-D718080EA599}"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208603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D1A814-0C11-4C2B-8195-D718080EA599}"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1278495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D1A814-0C11-4C2B-8195-D718080EA599}"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360204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D1A814-0C11-4C2B-8195-D718080EA599}"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237495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D1A814-0C11-4C2B-8195-D718080EA599}"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1316365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D1A814-0C11-4C2B-8195-D718080EA599}"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1887673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ED1A814-0C11-4C2B-8195-D718080EA599}" type="datetimeFigureOut">
              <a:rPr lang="en-US" smtClean="0"/>
              <a:t>8/4/2025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1620050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ED1A814-0C11-4C2B-8195-D718080EA599}" type="datetimeFigureOut">
              <a:rPr lang="en-US" smtClean="0"/>
              <a:t>8/4/2025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55729C8-D792-462C-A32C-383CD6BF0918}"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94066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CED1A814-0C11-4C2B-8195-D718080EA599}" type="datetimeFigureOut">
              <a:rPr lang="en-US" smtClean="0"/>
              <a:t>8/4/2025</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3211514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D1A814-0C11-4C2B-8195-D718080EA599}"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1478244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D1A814-0C11-4C2B-8195-D718080EA599}"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3051844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D1A814-0C11-4C2B-8195-D718080EA599}"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28155386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CED1A814-0C11-4C2B-8195-D718080EA599}" type="datetimeFigureOut">
              <a:rPr lang="en-US" smtClean="0"/>
              <a:t>8/4/2025</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555729C8-D792-462C-A32C-383CD6BF0918}" type="slidenum">
              <a:rPr lang="en-US" smtClean="0"/>
              <a:t>‹#›</a:t>
            </a:fld>
            <a:endParaRPr lang="en-US"/>
          </a:p>
        </p:txBody>
      </p:sp>
    </p:spTree>
    <p:extLst>
      <p:ext uri="{BB962C8B-B14F-4D97-AF65-F5344CB8AC3E}">
        <p14:creationId xmlns:p14="http://schemas.microsoft.com/office/powerpoint/2010/main" val="360360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ED1A814-0C11-4C2B-8195-D718080EA599}" type="datetimeFigureOut">
              <a:rPr lang="en-US" smtClean="0"/>
              <a:t>8/4/2025</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55729C8-D792-462C-A32C-383CD6BF0918}" type="slidenum">
              <a:rPr lang="en-US" smtClean="0"/>
              <a:t>‹#›</a:t>
            </a:fld>
            <a:endParaRPr lang="en-US"/>
          </a:p>
        </p:txBody>
      </p:sp>
    </p:spTree>
    <p:extLst>
      <p:ext uri="{BB962C8B-B14F-4D97-AF65-F5344CB8AC3E}">
        <p14:creationId xmlns:p14="http://schemas.microsoft.com/office/powerpoint/2010/main" val="347678465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tplink.net/"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2FA4B-38A9-F2DE-38A6-59A37525E415}"/>
              </a:ext>
            </a:extLst>
          </p:cNvPr>
          <p:cNvSpPr>
            <a:spLocks noGrp="1"/>
          </p:cNvSpPr>
          <p:nvPr>
            <p:ph type="ctrTitle"/>
          </p:nvPr>
        </p:nvSpPr>
        <p:spPr/>
        <p:txBody>
          <a:bodyPr/>
          <a:lstStyle/>
          <a:p>
            <a:r>
              <a:rPr lang="en-US" dirty="0"/>
              <a:t>network devices </a:t>
            </a:r>
          </a:p>
        </p:txBody>
      </p:sp>
    </p:spTree>
    <p:extLst>
      <p:ext uri="{BB962C8B-B14F-4D97-AF65-F5344CB8AC3E}">
        <p14:creationId xmlns:p14="http://schemas.microsoft.com/office/powerpoint/2010/main" val="1385468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AB3B98-DF17-32D6-7C83-396A9A702E6B}"/>
              </a:ext>
            </a:extLst>
          </p:cNvPr>
          <p:cNvSpPr>
            <a:spLocks noGrp="1"/>
          </p:cNvSpPr>
          <p:nvPr>
            <p:ph idx="1"/>
          </p:nvPr>
        </p:nvSpPr>
        <p:spPr/>
        <p:txBody>
          <a:bodyPr/>
          <a:lstStyle/>
          <a:p>
            <a:r>
              <a:rPr lang="en-US" dirty="0"/>
              <a:t>Network devices are part of the basic infrastructure of any company. It is also an essential component, for it enables teamwork and provides access to the Internet. It also allows all staff members (including management) to share a company's hardware, printers, servers, and services and thus communicate and exchange data. </a:t>
            </a:r>
          </a:p>
        </p:txBody>
      </p:sp>
    </p:spTree>
    <p:extLst>
      <p:ext uri="{BB962C8B-B14F-4D97-AF65-F5344CB8AC3E}">
        <p14:creationId xmlns:p14="http://schemas.microsoft.com/office/powerpoint/2010/main" val="1052401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AD2C7-F05F-20FF-0C89-D083B5236DAC}"/>
              </a:ext>
            </a:extLst>
          </p:cNvPr>
          <p:cNvSpPr>
            <a:spLocks noGrp="1"/>
          </p:cNvSpPr>
          <p:nvPr>
            <p:ph idx="1"/>
          </p:nvPr>
        </p:nvSpPr>
        <p:spPr>
          <a:xfrm>
            <a:off x="624840" y="1524000"/>
            <a:ext cx="10820400" cy="4024125"/>
          </a:xfrm>
        </p:spPr>
        <p:txBody>
          <a:bodyPr/>
          <a:lstStyle/>
          <a:p>
            <a:endParaRPr lang="en-US" dirty="0"/>
          </a:p>
          <a:p>
            <a:r>
              <a:rPr lang="en-US" dirty="0"/>
              <a:t>Router </a:t>
            </a:r>
          </a:p>
          <a:p>
            <a:r>
              <a:rPr lang="en-US" dirty="0"/>
              <a:t>Hub </a:t>
            </a:r>
          </a:p>
          <a:p>
            <a:r>
              <a:rPr lang="en-US" dirty="0"/>
              <a:t>Switch </a:t>
            </a:r>
          </a:p>
          <a:p>
            <a:r>
              <a:rPr lang="en-US" dirty="0"/>
              <a:t>Bridge </a:t>
            </a:r>
          </a:p>
          <a:p>
            <a:r>
              <a:rPr lang="en-US" dirty="0"/>
              <a:t>Repeater </a:t>
            </a:r>
          </a:p>
          <a:p>
            <a:endParaRPr lang="en-US" dirty="0"/>
          </a:p>
        </p:txBody>
      </p:sp>
    </p:spTree>
    <p:extLst>
      <p:ext uri="{BB962C8B-B14F-4D97-AF65-F5344CB8AC3E}">
        <p14:creationId xmlns:p14="http://schemas.microsoft.com/office/powerpoint/2010/main" val="1351164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BD2D74-E0BB-C6AE-1671-E0BD181FAEE7}"/>
              </a:ext>
            </a:extLst>
          </p:cNvPr>
          <p:cNvSpPr>
            <a:spLocks noGrp="1"/>
          </p:cNvSpPr>
          <p:nvPr>
            <p:ph idx="1"/>
          </p:nvPr>
        </p:nvSpPr>
        <p:spPr>
          <a:xfrm>
            <a:off x="175260" y="891540"/>
            <a:ext cx="11125200" cy="4024125"/>
          </a:xfrm>
        </p:spPr>
        <p:txBody>
          <a:bodyPr/>
          <a:lstStyle/>
          <a:p>
            <a:endParaRPr lang="en-US" dirty="0"/>
          </a:p>
          <a:p>
            <a:r>
              <a:rPr lang="en-US" b="1" dirty="0"/>
              <a:t>Router</a:t>
            </a:r>
            <a:r>
              <a:rPr lang="en-US" dirty="0"/>
              <a:t>: A router is an electronic device that interconnects two or more computer networks and selectively interchanges data packets between them. Each data packet contains address information that a router can use to determine if the source and destination are on the same network or if the data packet must be transferred from one network to another. Where multiple routers are used in an extensive collection of interconnected networks, the routers exchange information about target system addresses so that each router can build up a table showing the preferred paths between any two systems on the interconnected networks. </a:t>
            </a:r>
          </a:p>
          <a:p>
            <a:endParaRPr lang="en-US" dirty="0"/>
          </a:p>
        </p:txBody>
      </p:sp>
      <p:pic>
        <p:nvPicPr>
          <p:cNvPr id="11" name="Picture 10">
            <a:extLst>
              <a:ext uri="{FF2B5EF4-FFF2-40B4-BE49-F238E27FC236}">
                <a16:creationId xmlns:a16="http://schemas.microsoft.com/office/drawing/2014/main" id="{D4300862-C6EF-6C31-6708-521F7EDC9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6160" y="3627120"/>
            <a:ext cx="3535680" cy="3085436"/>
          </a:xfrm>
          <a:prstGeom prst="rect">
            <a:avLst/>
          </a:prstGeom>
        </p:spPr>
      </p:pic>
    </p:spTree>
    <p:extLst>
      <p:ext uri="{BB962C8B-B14F-4D97-AF65-F5344CB8AC3E}">
        <p14:creationId xmlns:p14="http://schemas.microsoft.com/office/powerpoint/2010/main" val="2486450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EE8CA6-B61E-86B0-F07C-5EA04FE73A05}"/>
              </a:ext>
            </a:extLst>
          </p:cNvPr>
          <p:cNvSpPr>
            <a:spLocks noGrp="1"/>
          </p:cNvSpPr>
          <p:nvPr>
            <p:ph idx="1"/>
          </p:nvPr>
        </p:nvSpPr>
        <p:spPr>
          <a:xfrm>
            <a:off x="205740" y="975360"/>
            <a:ext cx="10820400" cy="4024125"/>
          </a:xfrm>
        </p:spPr>
        <p:txBody>
          <a:bodyPr/>
          <a:lstStyle/>
          <a:p>
            <a:endParaRPr lang="en-US" dirty="0"/>
          </a:p>
          <a:p>
            <a:r>
              <a:rPr lang="en-US" b="1" dirty="0"/>
              <a:t>Hub</a:t>
            </a:r>
            <a:r>
              <a:rPr lang="en-US" dirty="0"/>
              <a:t>: An Ethernet hub, active hub, network hub, repeater hub, hub, or concentrator </a:t>
            </a:r>
          </a:p>
          <a:p>
            <a:r>
              <a:rPr lang="en-US" dirty="0"/>
              <a:t>is a device for connecting multiple twisted pair or fiber optic Ethernet devices and making them act as a single network segment? Hubs work at the OSI model's physical layer (layer 1). A device is a form of multiport repeater. Repeater hubs also participate in collision detection, forwarding a jam signal to all ports if it detects a collision. </a:t>
            </a:r>
          </a:p>
        </p:txBody>
      </p:sp>
      <p:pic>
        <p:nvPicPr>
          <p:cNvPr id="5" name="Picture 4">
            <a:extLst>
              <a:ext uri="{FF2B5EF4-FFF2-40B4-BE49-F238E27FC236}">
                <a16:creationId xmlns:a16="http://schemas.microsoft.com/office/drawing/2014/main" id="{C21C4FBD-CDBB-12DA-CF50-9E946A401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732660"/>
            <a:ext cx="4498521" cy="2533650"/>
          </a:xfrm>
          <a:prstGeom prst="rect">
            <a:avLst/>
          </a:prstGeom>
        </p:spPr>
      </p:pic>
    </p:spTree>
    <p:extLst>
      <p:ext uri="{BB962C8B-B14F-4D97-AF65-F5344CB8AC3E}">
        <p14:creationId xmlns:p14="http://schemas.microsoft.com/office/powerpoint/2010/main" val="131858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2F190B-9EA1-2A09-BD27-3D6D76B9E836}"/>
              </a:ext>
            </a:extLst>
          </p:cNvPr>
          <p:cNvSpPr>
            <a:spLocks noGrp="1"/>
          </p:cNvSpPr>
          <p:nvPr>
            <p:ph idx="1"/>
          </p:nvPr>
        </p:nvSpPr>
        <p:spPr>
          <a:xfrm>
            <a:off x="266700" y="1013460"/>
            <a:ext cx="10820400" cy="4024125"/>
          </a:xfrm>
        </p:spPr>
        <p:txBody>
          <a:bodyPr/>
          <a:lstStyle/>
          <a:p>
            <a:endParaRPr lang="en-US" dirty="0"/>
          </a:p>
          <a:p>
            <a:r>
              <a:rPr lang="en-US" b="1" dirty="0"/>
              <a:t>Switch</a:t>
            </a:r>
            <a:r>
              <a:rPr lang="en-US" dirty="0"/>
              <a:t>: A network switch or switching hub is a computer networking device that connects network segments. The term commonly refers to a network bridge that processes and routes data at the OSI model's data link layer (layer 2). Switches that additionally process data at the network layer (layer three and above) are often referred to as Layer 3 switches or multilayer switches. </a:t>
            </a:r>
          </a:p>
          <a:p>
            <a:endParaRPr lang="en-US" dirty="0"/>
          </a:p>
        </p:txBody>
      </p:sp>
      <p:pic>
        <p:nvPicPr>
          <p:cNvPr id="7" name="Picture 6">
            <a:extLst>
              <a:ext uri="{FF2B5EF4-FFF2-40B4-BE49-F238E27FC236}">
                <a16:creationId xmlns:a16="http://schemas.microsoft.com/office/drawing/2014/main" id="{134B5E55-3E28-7739-9FE1-3CF540E2E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317" y="3436619"/>
            <a:ext cx="6260783" cy="3171825"/>
          </a:xfrm>
          <a:prstGeom prst="rect">
            <a:avLst/>
          </a:prstGeom>
        </p:spPr>
      </p:pic>
    </p:spTree>
    <p:extLst>
      <p:ext uri="{BB962C8B-B14F-4D97-AF65-F5344CB8AC3E}">
        <p14:creationId xmlns:p14="http://schemas.microsoft.com/office/powerpoint/2010/main" val="1568032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2ED7EB-15FB-836E-BE3E-33D594DC8890}"/>
              </a:ext>
            </a:extLst>
          </p:cNvPr>
          <p:cNvSpPr>
            <a:spLocks noGrp="1"/>
          </p:cNvSpPr>
          <p:nvPr>
            <p:ph idx="1"/>
          </p:nvPr>
        </p:nvSpPr>
        <p:spPr>
          <a:xfrm>
            <a:off x="419100" y="1150620"/>
            <a:ext cx="10820400" cy="4024125"/>
          </a:xfrm>
        </p:spPr>
        <p:txBody>
          <a:bodyPr/>
          <a:lstStyle/>
          <a:p>
            <a:endParaRPr lang="en-US" dirty="0"/>
          </a:p>
          <a:p>
            <a:r>
              <a:rPr lang="en-US" b="1" dirty="0"/>
              <a:t>Bridge</a:t>
            </a:r>
            <a:r>
              <a:rPr lang="en-US" dirty="0"/>
              <a:t>: A network bridge connects multiple network segments at the OSI model's data link layer (Layer 2). In Ethernet networks, the term bridge formally means a device that behaves according to the IEEE 802.1D standard. A bridge and switch are very much alike, and a switch is a bridge with numerous ports. Switch, or Layer 2 switch, is often used interchangeably with a bridge. Bridges can analyze can send the given packet to another segment of the network. </a:t>
            </a:r>
          </a:p>
          <a:p>
            <a:pPr marL="0" indent="0">
              <a:buNone/>
            </a:pPr>
            <a:endParaRPr lang="en-US" dirty="0"/>
          </a:p>
          <a:p>
            <a:endParaRPr lang="en-US" dirty="0"/>
          </a:p>
        </p:txBody>
      </p:sp>
      <p:pic>
        <p:nvPicPr>
          <p:cNvPr id="5" name="Picture 4">
            <a:extLst>
              <a:ext uri="{FF2B5EF4-FFF2-40B4-BE49-F238E27FC236}">
                <a16:creationId xmlns:a16="http://schemas.microsoft.com/office/drawing/2014/main" id="{66145100-4BCA-9010-1B40-FEA1C6931C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9903" y="3274031"/>
            <a:ext cx="3408998" cy="3801427"/>
          </a:xfrm>
          <a:prstGeom prst="rect">
            <a:avLst/>
          </a:prstGeom>
        </p:spPr>
      </p:pic>
    </p:spTree>
    <p:extLst>
      <p:ext uri="{BB962C8B-B14F-4D97-AF65-F5344CB8AC3E}">
        <p14:creationId xmlns:p14="http://schemas.microsoft.com/office/powerpoint/2010/main" val="2670017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7DFF44-B5AE-5B68-83C8-D846265C9CD6}"/>
              </a:ext>
            </a:extLst>
          </p:cNvPr>
          <p:cNvSpPr>
            <a:spLocks noGrp="1"/>
          </p:cNvSpPr>
          <p:nvPr>
            <p:ph idx="1"/>
          </p:nvPr>
        </p:nvSpPr>
        <p:spPr>
          <a:xfrm>
            <a:off x="327660" y="1150620"/>
            <a:ext cx="10820400" cy="4024125"/>
          </a:xfrm>
        </p:spPr>
        <p:txBody>
          <a:bodyPr/>
          <a:lstStyle/>
          <a:p>
            <a:endParaRPr lang="en-US" dirty="0"/>
          </a:p>
          <a:p>
            <a:r>
              <a:rPr lang="en-US" b="1" dirty="0"/>
              <a:t>Repeater</a:t>
            </a:r>
            <a:r>
              <a:rPr lang="en-US" dirty="0"/>
              <a:t>: Functioning at Physical Layer. A repeater is an electronic device that receives a signal and retransmits it at a higher level and higher power or onto the other side of the obstruction so that the signal can cover longer distances. Repeaters have two ports, so they cannot be used to connect to more than two devices </a:t>
            </a:r>
          </a:p>
          <a:p>
            <a:endParaRPr lang="en-US" dirty="0"/>
          </a:p>
        </p:txBody>
      </p:sp>
      <p:pic>
        <p:nvPicPr>
          <p:cNvPr id="5" name="Picture 4">
            <a:extLst>
              <a:ext uri="{FF2B5EF4-FFF2-40B4-BE49-F238E27FC236}">
                <a16:creationId xmlns:a16="http://schemas.microsoft.com/office/drawing/2014/main" id="{F3695D5F-5914-8D80-D3EC-921FFF259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9310" y="2994660"/>
            <a:ext cx="4293870" cy="4171950"/>
          </a:xfrm>
          <a:prstGeom prst="rect">
            <a:avLst/>
          </a:prstGeom>
        </p:spPr>
      </p:pic>
    </p:spTree>
    <p:extLst>
      <p:ext uri="{BB962C8B-B14F-4D97-AF65-F5344CB8AC3E}">
        <p14:creationId xmlns:p14="http://schemas.microsoft.com/office/powerpoint/2010/main" val="2179019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77F3B5-E602-551E-DCC7-F77148FBAD95}"/>
              </a:ext>
            </a:extLst>
          </p:cNvPr>
          <p:cNvSpPr txBox="1">
            <a:spLocks/>
          </p:cNvSpPr>
          <p:nvPr/>
        </p:nvSpPr>
        <p:spPr>
          <a:xfrm>
            <a:off x="1371600" y="1803405"/>
            <a:ext cx="9448800" cy="1825096"/>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en-US" dirty="0"/>
              <a:t>Performing an Initial Router Configuration </a:t>
            </a:r>
          </a:p>
        </p:txBody>
      </p:sp>
    </p:spTree>
    <p:extLst>
      <p:ext uri="{BB962C8B-B14F-4D97-AF65-F5344CB8AC3E}">
        <p14:creationId xmlns:p14="http://schemas.microsoft.com/office/powerpoint/2010/main" val="315903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0FF628-00C8-DAC6-C000-DFB43C4C3CC2}"/>
              </a:ext>
            </a:extLst>
          </p:cNvPr>
          <p:cNvSpPr>
            <a:spLocks noGrp="1"/>
          </p:cNvSpPr>
          <p:nvPr>
            <p:ph idx="1"/>
          </p:nvPr>
        </p:nvSpPr>
        <p:spPr/>
        <p:txBody>
          <a:bodyPr/>
          <a:lstStyle/>
          <a:p>
            <a:r>
              <a:rPr lang="en-US" dirty="0"/>
              <a:t>In this activity, you will use the D-Link Router or </a:t>
            </a:r>
            <a:r>
              <a:rPr lang="en-US" dirty="0" err="1"/>
              <a:t>Tp</a:t>
            </a:r>
            <a:r>
              <a:rPr lang="en-US" dirty="0"/>
              <a:t>-link Router to apply an initial configuration to a router, including host name, passwords, and other basic settings. </a:t>
            </a:r>
          </a:p>
        </p:txBody>
      </p:sp>
    </p:spTree>
    <p:extLst>
      <p:ext uri="{BB962C8B-B14F-4D97-AF65-F5344CB8AC3E}">
        <p14:creationId xmlns:p14="http://schemas.microsoft.com/office/powerpoint/2010/main" val="1517109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E95ACA-BD09-C050-6AE1-AB89E47D398F}"/>
              </a:ext>
            </a:extLst>
          </p:cNvPr>
          <p:cNvSpPr>
            <a:spLocks noGrp="1"/>
          </p:cNvSpPr>
          <p:nvPr>
            <p:ph idx="1"/>
          </p:nvPr>
        </p:nvSpPr>
        <p:spPr>
          <a:xfrm>
            <a:off x="685800" y="1333500"/>
            <a:ext cx="10820400" cy="4900425"/>
          </a:xfrm>
        </p:spPr>
        <p:txBody>
          <a:bodyPr/>
          <a:lstStyle/>
          <a:p>
            <a:r>
              <a:rPr lang="en-US" b="1" dirty="0"/>
              <a:t>Step 1: </a:t>
            </a:r>
            <a:r>
              <a:rPr lang="en-US" dirty="0"/>
              <a:t>Unplug the </a:t>
            </a:r>
            <a:r>
              <a:rPr lang="en-US" b="1" dirty="0"/>
              <a:t>Power </a:t>
            </a:r>
            <a:r>
              <a:rPr lang="en-US" dirty="0"/>
              <a:t>to your Cable/DSL Internet Modem </a:t>
            </a:r>
          </a:p>
          <a:p>
            <a:endParaRPr lang="en-US" dirty="0"/>
          </a:p>
          <a:p>
            <a:endParaRPr lang="en-US" dirty="0"/>
          </a:p>
          <a:p>
            <a:endParaRPr lang="en-US" dirty="0"/>
          </a:p>
          <a:p>
            <a:endParaRPr lang="en-US" dirty="0"/>
          </a:p>
          <a:p>
            <a:endParaRPr lang="en-US" dirty="0"/>
          </a:p>
          <a:p>
            <a:r>
              <a:rPr lang="en-US" b="1" dirty="0"/>
              <a:t>Step 2: </a:t>
            </a:r>
            <a:r>
              <a:rPr lang="en-US" dirty="0"/>
              <a:t>Connect an Ethernet cable from your computer/laptop to a </a:t>
            </a:r>
            <a:r>
              <a:rPr lang="en-US" b="1" dirty="0"/>
              <a:t>LAN </a:t>
            </a:r>
            <a:r>
              <a:rPr lang="en-US" dirty="0"/>
              <a:t>port (Port 1,2,3 or 4) on the DIR-605L </a:t>
            </a:r>
          </a:p>
        </p:txBody>
      </p:sp>
      <p:pic>
        <p:nvPicPr>
          <p:cNvPr id="5" name="Picture 4">
            <a:extLst>
              <a:ext uri="{FF2B5EF4-FFF2-40B4-BE49-F238E27FC236}">
                <a16:creationId xmlns:a16="http://schemas.microsoft.com/office/drawing/2014/main" id="{48280320-5577-3D46-F6D2-F476837ABD02}"/>
              </a:ext>
            </a:extLst>
          </p:cNvPr>
          <p:cNvPicPr>
            <a:picLocks noChangeAspect="1"/>
          </p:cNvPicPr>
          <p:nvPr/>
        </p:nvPicPr>
        <p:blipFill>
          <a:blip r:embed="rId2"/>
          <a:stretch>
            <a:fillRect/>
          </a:stretch>
        </p:blipFill>
        <p:spPr>
          <a:xfrm>
            <a:off x="4221272" y="1907097"/>
            <a:ext cx="2972215" cy="1362265"/>
          </a:xfrm>
          <a:prstGeom prst="rect">
            <a:avLst/>
          </a:prstGeom>
        </p:spPr>
      </p:pic>
      <p:pic>
        <p:nvPicPr>
          <p:cNvPr id="7" name="Picture 6">
            <a:extLst>
              <a:ext uri="{FF2B5EF4-FFF2-40B4-BE49-F238E27FC236}">
                <a16:creationId xmlns:a16="http://schemas.microsoft.com/office/drawing/2014/main" id="{33794654-C605-9BB7-0293-699DF3DE87E1}"/>
              </a:ext>
            </a:extLst>
          </p:cNvPr>
          <p:cNvPicPr>
            <a:picLocks noChangeAspect="1"/>
          </p:cNvPicPr>
          <p:nvPr/>
        </p:nvPicPr>
        <p:blipFill>
          <a:blip r:embed="rId3"/>
          <a:stretch>
            <a:fillRect/>
          </a:stretch>
        </p:blipFill>
        <p:spPr>
          <a:xfrm>
            <a:off x="4221272" y="4677607"/>
            <a:ext cx="3010320" cy="1724266"/>
          </a:xfrm>
          <a:prstGeom prst="rect">
            <a:avLst/>
          </a:prstGeom>
        </p:spPr>
      </p:pic>
    </p:spTree>
    <p:extLst>
      <p:ext uri="{BB962C8B-B14F-4D97-AF65-F5344CB8AC3E}">
        <p14:creationId xmlns:p14="http://schemas.microsoft.com/office/powerpoint/2010/main" val="121318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7716A04-1E20-D405-22A3-5E7AADAA1323}"/>
              </a:ext>
            </a:extLst>
          </p:cNvPr>
          <p:cNvSpPr>
            <a:spLocks noGrp="1"/>
          </p:cNvSpPr>
          <p:nvPr>
            <p:ph idx="1"/>
          </p:nvPr>
        </p:nvSpPr>
        <p:spPr>
          <a:xfrm>
            <a:off x="685800" y="1333500"/>
            <a:ext cx="10820400" cy="4900425"/>
          </a:xfrm>
        </p:spPr>
        <p:txBody>
          <a:bodyPr/>
          <a:lstStyle/>
          <a:p>
            <a:r>
              <a:rPr lang="en-US" b="1" dirty="0"/>
              <a:t>Step 3: </a:t>
            </a:r>
            <a:r>
              <a:rPr lang="en-US" dirty="0"/>
              <a:t>Connect your Cable/DSL modem to the </a:t>
            </a:r>
            <a:r>
              <a:rPr lang="en-US" b="1" dirty="0"/>
              <a:t>Yellow Internet Port </a:t>
            </a:r>
            <a:r>
              <a:rPr lang="en-US" dirty="0"/>
              <a:t>on the DIR </a:t>
            </a:r>
          </a:p>
          <a:p>
            <a:endParaRPr lang="en-US" dirty="0"/>
          </a:p>
          <a:p>
            <a:endParaRPr lang="en-US" dirty="0"/>
          </a:p>
          <a:p>
            <a:endParaRPr lang="en-US" dirty="0"/>
          </a:p>
          <a:p>
            <a:endParaRPr lang="en-US" dirty="0"/>
          </a:p>
          <a:p>
            <a:r>
              <a:rPr lang="en-US" b="1" dirty="0"/>
              <a:t>Step 4: </a:t>
            </a:r>
            <a:r>
              <a:rPr lang="en-US" dirty="0"/>
              <a:t>Power on both the DIR-605L and your Internet Cable/DSL Modem </a:t>
            </a:r>
          </a:p>
        </p:txBody>
      </p:sp>
      <p:pic>
        <p:nvPicPr>
          <p:cNvPr id="6" name="Picture 5">
            <a:extLst>
              <a:ext uri="{FF2B5EF4-FFF2-40B4-BE49-F238E27FC236}">
                <a16:creationId xmlns:a16="http://schemas.microsoft.com/office/drawing/2014/main" id="{CE752D32-C29A-CABD-B0E1-37C21569442E}"/>
              </a:ext>
            </a:extLst>
          </p:cNvPr>
          <p:cNvPicPr>
            <a:picLocks noChangeAspect="1"/>
          </p:cNvPicPr>
          <p:nvPr/>
        </p:nvPicPr>
        <p:blipFill>
          <a:blip r:embed="rId2"/>
          <a:stretch>
            <a:fillRect/>
          </a:stretch>
        </p:blipFill>
        <p:spPr>
          <a:xfrm>
            <a:off x="3648747" y="1749615"/>
            <a:ext cx="3902673" cy="1819529"/>
          </a:xfrm>
          <a:prstGeom prst="rect">
            <a:avLst/>
          </a:prstGeom>
        </p:spPr>
      </p:pic>
      <p:pic>
        <p:nvPicPr>
          <p:cNvPr id="8" name="Picture 7">
            <a:extLst>
              <a:ext uri="{FF2B5EF4-FFF2-40B4-BE49-F238E27FC236}">
                <a16:creationId xmlns:a16="http://schemas.microsoft.com/office/drawing/2014/main" id="{D7E74346-C466-EAA2-BE79-3CD47DD48B7D}"/>
              </a:ext>
            </a:extLst>
          </p:cNvPr>
          <p:cNvPicPr>
            <a:picLocks noChangeAspect="1"/>
          </p:cNvPicPr>
          <p:nvPr/>
        </p:nvPicPr>
        <p:blipFill>
          <a:blip r:embed="rId3"/>
          <a:stretch>
            <a:fillRect/>
          </a:stretch>
        </p:blipFill>
        <p:spPr>
          <a:xfrm>
            <a:off x="3648747" y="4519186"/>
            <a:ext cx="3839111" cy="1714739"/>
          </a:xfrm>
          <a:prstGeom prst="rect">
            <a:avLst/>
          </a:prstGeom>
        </p:spPr>
      </p:pic>
    </p:spTree>
    <p:extLst>
      <p:ext uri="{BB962C8B-B14F-4D97-AF65-F5344CB8AC3E}">
        <p14:creationId xmlns:p14="http://schemas.microsoft.com/office/powerpoint/2010/main" val="622509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00D00C6-9DD7-202B-9ECE-02C32DF73D77}"/>
              </a:ext>
            </a:extLst>
          </p:cNvPr>
          <p:cNvSpPr>
            <a:spLocks noGrp="1"/>
          </p:cNvSpPr>
          <p:nvPr>
            <p:ph idx="1"/>
          </p:nvPr>
        </p:nvSpPr>
        <p:spPr>
          <a:xfrm>
            <a:off x="685800" y="1333500"/>
            <a:ext cx="10820400" cy="5280660"/>
          </a:xfrm>
        </p:spPr>
        <p:txBody>
          <a:bodyPr/>
          <a:lstStyle/>
          <a:p>
            <a:r>
              <a:rPr lang="en-US" b="1" dirty="0"/>
              <a:t>Step 5: </a:t>
            </a:r>
            <a:r>
              <a:rPr lang="en-US" dirty="0"/>
              <a:t>Open your Internet browser (Internet Explorer/Firefox) and enter </a:t>
            </a:r>
            <a:r>
              <a:rPr lang="en-US" b="1" dirty="0"/>
              <a:t>http://192.168.0.1 or </a:t>
            </a:r>
            <a:r>
              <a:rPr lang="en-US" b="1" dirty="0">
                <a:hlinkClick r:id="rId2">
                  <a:extLst>
                    <a:ext uri="{A12FA001-AC4F-418D-AE19-62706E023703}">
                      <ahyp:hlinkClr xmlns:ahyp="http://schemas.microsoft.com/office/drawing/2018/hyperlinkcolor" val="tx"/>
                    </a:ext>
                  </a:extLst>
                </a:hlinkClick>
              </a:rPr>
              <a:t>http://tplink.net</a:t>
            </a:r>
            <a:r>
              <a:rPr lang="en-US" b="1" dirty="0"/>
              <a:t> </a:t>
            </a:r>
            <a:r>
              <a:rPr lang="en-US" dirty="0"/>
              <a:t>into the address bar (In some cases, you may get automatically directed here) </a:t>
            </a:r>
          </a:p>
          <a:p>
            <a:endParaRPr lang="en-US" dirty="0"/>
          </a:p>
          <a:p>
            <a:endParaRPr lang="en-US" dirty="0"/>
          </a:p>
          <a:p>
            <a:endParaRPr lang="en-US" dirty="0"/>
          </a:p>
          <a:p>
            <a:r>
              <a:rPr lang="en-US" b="1" dirty="0"/>
              <a:t>Step 6: </a:t>
            </a:r>
            <a:r>
              <a:rPr lang="en-US" dirty="0"/>
              <a:t>The Setup Wizard should appear </a:t>
            </a:r>
          </a:p>
          <a:p>
            <a:r>
              <a:rPr lang="en-US" dirty="0"/>
              <a:t>• Select your preferred Language and click Start </a:t>
            </a:r>
          </a:p>
        </p:txBody>
      </p:sp>
      <p:pic>
        <p:nvPicPr>
          <p:cNvPr id="9" name="Picture 8">
            <a:extLst>
              <a:ext uri="{FF2B5EF4-FFF2-40B4-BE49-F238E27FC236}">
                <a16:creationId xmlns:a16="http://schemas.microsoft.com/office/drawing/2014/main" id="{F1DA2F97-97D9-08F5-FABA-C45D875D143B}"/>
              </a:ext>
            </a:extLst>
          </p:cNvPr>
          <p:cNvPicPr>
            <a:picLocks noChangeAspect="1"/>
          </p:cNvPicPr>
          <p:nvPr/>
        </p:nvPicPr>
        <p:blipFill>
          <a:blip r:embed="rId3"/>
          <a:stretch>
            <a:fillRect/>
          </a:stretch>
        </p:blipFill>
        <p:spPr>
          <a:xfrm>
            <a:off x="6479511" y="2150608"/>
            <a:ext cx="3708429" cy="1278392"/>
          </a:xfrm>
          <a:prstGeom prst="rect">
            <a:avLst/>
          </a:prstGeom>
        </p:spPr>
      </p:pic>
      <p:pic>
        <p:nvPicPr>
          <p:cNvPr id="11" name="Picture 10">
            <a:extLst>
              <a:ext uri="{FF2B5EF4-FFF2-40B4-BE49-F238E27FC236}">
                <a16:creationId xmlns:a16="http://schemas.microsoft.com/office/drawing/2014/main" id="{AEEA8360-376F-A3AE-6E38-CE9205015856}"/>
              </a:ext>
            </a:extLst>
          </p:cNvPr>
          <p:cNvPicPr>
            <a:picLocks noChangeAspect="1"/>
          </p:cNvPicPr>
          <p:nvPr/>
        </p:nvPicPr>
        <p:blipFill>
          <a:blip r:embed="rId4"/>
          <a:stretch>
            <a:fillRect/>
          </a:stretch>
        </p:blipFill>
        <p:spPr>
          <a:xfrm>
            <a:off x="3710940" y="4495800"/>
            <a:ext cx="4221480" cy="2057400"/>
          </a:xfrm>
          <a:prstGeom prst="rect">
            <a:avLst/>
          </a:prstGeom>
        </p:spPr>
      </p:pic>
    </p:spTree>
    <p:extLst>
      <p:ext uri="{BB962C8B-B14F-4D97-AF65-F5344CB8AC3E}">
        <p14:creationId xmlns:p14="http://schemas.microsoft.com/office/powerpoint/2010/main" val="2256063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A186B6A-FA2B-94B6-F4B7-645BF85C5DF5}"/>
              </a:ext>
            </a:extLst>
          </p:cNvPr>
          <p:cNvSpPr>
            <a:spLocks noGrp="1"/>
          </p:cNvSpPr>
          <p:nvPr>
            <p:ph idx="1"/>
          </p:nvPr>
        </p:nvSpPr>
        <p:spPr>
          <a:xfrm>
            <a:off x="685800" y="1333500"/>
            <a:ext cx="10820400" cy="5280660"/>
          </a:xfrm>
        </p:spPr>
        <p:txBody>
          <a:bodyPr/>
          <a:lstStyle/>
          <a:p>
            <a:r>
              <a:rPr lang="en-US" dirty="0"/>
              <a:t>Setup a Wireless Network Name and Password </a:t>
            </a:r>
          </a:p>
          <a:p>
            <a:endParaRPr lang="en-US" dirty="0"/>
          </a:p>
          <a:p>
            <a:endParaRPr lang="en-US" dirty="0"/>
          </a:p>
          <a:p>
            <a:endParaRPr lang="en-US" dirty="0"/>
          </a:p>
          <a:p>
            <a:endParaRPr lang="en-US" dirty="0"/>
          </a:p>
          <a:p>
            <a:pPr marL="0" indent="0">
              <a:buNone/>
            </a:pPr>
            <a:endParaRPr lang="en-US" dirty="0"/>
          </a:p>
          <a:p>
            <a:r>
              <a:rPr lang="en-US" dirty="0"/>
              <a:t>Enter an administrator password for the router </a:t>
            </a:r>
          </a:p>
          <a:p>
            <a:pPr marL="0" indent="0">
              <a:buNone/>
            </a:pPr>
            <a:endParaRPr lang="en-US" dirty="0"/>
          </a:p>
        </p:txBody>
      </p:sp>
      <p:pic>
        <p:nvPicPr>
          <p:cNvPr id="9" name="Picture 8">
            <a:extLst>
              <a:ext uri="{FF2B5EF4-FFF2-40B4-BE49-F238E27FC236}">
                <a16:creationId xmlns:a16="http://schemas.microsoft.com/office/drawing/2014/main" id="{85D5753E-C9C5-02C8-A1D5-69A2A9B5F1DF}"/>
              </a:ext>
            </a:extLst>
          </p:cNvPr>
          <p:cNvPicPr>
            <a:picLocks noChangeAspect="1"/>
          </p:cNvPicPr>
          <p:nvPr/>
        </p:nvPicPr>
        <p:blipFill>
          <a:blip r:embed="rId2"/>
          <a:stretch>
            <a:fillRect/>
          </a:stretch>
        </p:blipFill>
        <p:spPr>
          <a:xfrm>
            <a:off x="3315231" y="1814309"/>
            <a:ext cx="4457170" cy="1995692"/>
          </a:xfrm>
          <a:prstGeom prst="rect">
            <a:avLst/>
          </a:prstGeom>
        </p:spPr>
      </p:pic>
      <p:pic>
        <p:nvPicPr>
          <p:cNvPr id="3" name="Picture 2">
            <a:extLst>
              <a:ext uri="{FF2B5EF4-FFF2-40B4-BE49-F238E27FC236}">
                <a16:creationId xmlns:a16="http://schemas.microsoft.com/office/drawing/2014/main" id="{D08B717C-8F99-224B-000D-01CFF6CB3A3B}"/>
              </a:ext>
            </a:extLst>
          </p:cNvPr>
          <p:cNvPicPr>
            <a:picLocks noChangeAspect="1"/>
          </p:cNvPicPr>
          <p:nvPr/>
        </p:nvPicPr>
        <p:blipFill>
          <a:blip r:embed="rId3"/>
          <a:stretch>
            <a:fillRect/>
          </a:stretch>
        </p:blipFill>
        <p:spPr>
          <a:xfrm>
            <a:off x="3315231" y="4290809"/>
            <a:ext cx="4457170" cy="2213507"/>
          </a:xfrm>
          <a:prstGeom prst="rect">
            <a:avLst/>
          </a:prstGeom>
        </p:spPr>
      </p:pic>
    </p:spTree>
    <p:extLst>
      <p:ext uri="{BB962C8B-B14F-4D97-AF65-F5344CB8AC3E}">
        <p14:creationId xmlns:p14="http://schemas.microsoft.com/office/powerpoint/2010/main" val="67034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7B50A-6EFE-69B1-E72A-0CC7144FD38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5ACD5C2-37D6-9FA1-5DBF-C4EC38A26C70}"/>
              </a:ext>
            </a:extLst>
          </p:cNvPr>
          <p:cNvSpPr>
            <a:spLocks noGrp="1"/>
          </p:cNvSpPr>
          <p:nvPr>
            <p:ph idx="1"/>
          </p:nvPr>
        </p:nvSpPr>
        <p:spPr>
          <a:xfrm>
            <a:off x="685800" y="1333500"/>
            <a:ext cx="10820400" cy="5280660"/>
          </a:xfrm>
        </p:spPr>
        <p:txBody>
          <a:bodyPr/>
          <a:lstStyle/>
          <a:p>
            <a:r>
              <a:rPr lang="en-US" dirty="0"/>
              <a:t>Select your Time Zone </a:t>
            </a:r>
          </a:p>
          <a:p>
            <a:pPr marL="0" indent="0">
              <a:buNone/>
            </a:pPr>
            <a:endParaRPr lang="en-US" dirty="0"/>
          </a:p>
          <a:p>
            <a:endParaRPr lang="en-US" dirty="0"/>
          </a:p>
          <a:p>
            <a:endParaRPr lang="en-US" dirty="0"/>
          </a:p>
          <a:p>
            <a:pPr marL="0" indent="0">
              <a:buNone/>
            </a:pPr>
            <a:endParaRPr lang="en-US" dirty="0"/>
          </a:p>
          <a:p>
            <a:pPr marL="0" indent="0">
              <a:buNone/>
            </a:pPr>
            <a:endParaRPr lang="en-US" dirty="0"/>
          </a:p>
          <a:p>
            <a:r>
              <a:rPr lang="en-US" dirty="0"/>
              <a:t>The router will apply the new settings and reboot. You should be prompted with the routers Login Screen • Enter the username: admin and your created password (created earlier) </a:t>
            </a:r>
          </a:p>
          <a:p>
            <a:endParaRPr lang="en-US" dirty="0"/>
          </a:p>
          <a:p>
            <a:pPr marL="0" indent="0">
              <a:buNone/>
            </a:pPr>
            <a:endParaRPr lang="en-US" dirty="0"/>
          </a:p>
        </p:txBody>
      </p:sp>
      <p:pic>
        <p:nvPicPr>
          <p:cNvPr id="4" name="Picture 3">
            <a:extLst>
              <a:ext uri="{FF2B5EF4-FFF2-40B4-BE49-F238E27FC236}">
                <a16:creationId xmlns:a16="http://schemas.microsoft.com/office/drawing/2014/main" id="{37DD9801-FB09-B2D6-0807-D06E0791123E}"/>
              </a:ext>
            </a:extLst>
          </p:cNvPr>
          <p:cNvPicPr>
            <a:picLocks noChangeAspect="1"/>
          </p:cNvPicPr>
          <p:nvPr/>
        </p:nvPicPr>
        <p:blipFill>
          <a:blip r:embed="rId2"/>
          <a:stretch>
            <a:fillRect/>
          </a:stretch>
        </p:blipFill>
        <p:spPr>
          <a:xfrm>
            <a:off x="3521455" y="1730832"/>
            <a:ext cx="4044721" cy="1909515"/>
          </a:xfrm>
          <a:prstGeom prst="rect">
            <a:avLst/>
          </a:prstGeom>
        </p:spPr>
      </p:pic>
      <p:pic>
        <p:nvPicPr>
          <p:cNvPr id="6" name="Picture 5">
            <a:extLst>
              <a:ext uri="{FF2B5EF4-FFF2-40B4-BE49-F238E27FC236}">
                <a16:creationId xmlns:a16="http://schemas.microsoft.com/office/drawing/2014/main" id="{610815A8-A494-70D5-B5D4-077723DE612E}"/>
              </a:ext>
            </a:extLst>
          </p:cNvPr>
          <p:cNvPicPr>
            <a:picLocks noChangeAspect="1"/>
          </p:cNvPicPr>
          <p:nvPr/>
        </p:nvPicPr>
        <p:blipFill>
          <a:blip r:embed="rId3"/>
          <a:stretch>
            <a:fillRect/>
          </a:stretch>
        </p:blipFill>
        <p:spPr>
          <a:xfrm>
            <a:off x="5096735" y="4637893"/>
            <a:ext cx="4513092" cy="1909516"/>
          </a:xfrm>
          <a:prstGeom prst="rect">
            <a:avLst/>
          </a:prstGeom>
        </p:spPr>
      </p:pic>
    </p:spTree>
    <p:extLst>
      <p:ext uri="{BB962C8B-B14F-4D97-AF65-F5344CB8AC3E}">
        <p14:creationId xmlns:p14="http://schemas.microsoft.com/office/powerpoint/2010/main" val="157149490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307</TotalTime>
  <Words>687</Words>
  <Application>Microsoft Office PowerPoint</Application>
  <PresentationFormat>Widescreen</PresentationFormat>
  <Paragraphs>54</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Century Gothic</vt:lpstr>
      <vt:lpstr>Vapor Trail</vt:lpstr>
      <vt:lpstr>network devices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Buhat, Alvin (Student)</dc:creator>
  <cp:lastModifiedBy>Buhat, Alvin (Student)</cp:lastModifiedBy>
  <cp:revision>10</cp:revision>
  <dcterms:created xsi:type="dcterms:W3CDTF">2025-07-30T05:41:58Z</dcterms:created>
  <dcterms:modified xsi:type="dcterms:W3CDTF">2025-08-04T03:25:47Z</dcterms:modified>
</cp:coreProperties>
</file>